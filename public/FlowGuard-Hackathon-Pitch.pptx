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76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4630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CCEEEA"/>
                </a:solidFill>
                <a:latin typeface="Noto Sans CJK SC"/>
                <a:ea typeface="Noto Sans CJK SC"/>
                <a:cs typeface="Noto Sans CJK SC"/>
              </a:rPr>
              <a:t>2026 创青春 AI 黑客松 · 顺德行 · 自由创新赛道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72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FlowGuard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566160"/>
            <a:ext cx="96012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EAF7F5"/>
                </a:solidFill>
                <a:latin typeface="Noto Sans CJK SC"/>
                <a:ea typeface="Noto Sans CJK SC"/>
                <a:cs typeface="Noto Sans CJK SC"/>
              </a:rPr>
              <a:t>把 AI 带进真实场景：跨境付款「先核查，再付款」的风控控制台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85216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BFE4E0"/>
                </a:solidFill>
                <a:latin typeface="Noto Sans CJK SC"/>
                <a:ea typeface="Noto Sans CJK SC"/>
                <a:cs typeface="Noto Sans CJK SC"/>
              </a:rPr>
              <a:t>一人团队 · 负责 App 全部内容 · 5 分钟路演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目录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今天用 5 分钟讲清 9 件事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33172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244144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251460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真实问题：谁在痛、痛在哪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233172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244144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74920" y="251460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产品介绍：FlowGuard 是什么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233172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83880" y="244144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251460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核心功能①：付款前退回风险预检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56616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374904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核心功能②：AI 补充风险信号+合规简报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34840" y="356616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0" y="367588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20" y="374904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核心功能③：双人审批+生成付款指令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0" y="356616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83880" y="367588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374904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现场 Demo：你能看到什么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480060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91032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498348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技术架构：怎么实现的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34840" y="480060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0" y="491032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74920" y="498348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合规边界：我们不碰什么（关键）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46720" y="480060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83880" y="491032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0" y="498348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总结与可继续方向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真实问题 · 谁会使用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跨境 B2B 付款，至今仍是「盲发」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使用者：外贸企业出纳/财务、跨境电商、做海外供应商结算的中小企业。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4688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先发后祈祷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9718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钱汇出去才知道会被退回——资金冻结数日，业务停摆、供应商催货。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5060" y="24688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79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退回原因藏在细节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7940" y="29718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收款人信息一个字段不符、通道选错，就整笔退回，出纳无从预判。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8404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9502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选错通道白花钱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434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稳定币直连 vs 本地法币凭感觉选，费用更高、失败率更高。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5060" y="38404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7940" y="39502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缺少双人控制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7940" y="43434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一个人又发起又确认，填错没有第二道拦截，直接造成损失。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0936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真实、高频、可被验证的痛点——不是未来概念。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产品介绍 · 解决什么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付款前的「退回风险 + 合规」控制台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一句话：在把付款指令提交给持牌机构之前，先预检退回风险、比价选路、双人放行。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4688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全链路闭环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9718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预检→供应商核实→双人审批→生成付款指令(提交持牌机构)→到账确认→自动对账。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5060" y="24688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79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双通道比价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7940" y="29718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稳定币直连 vs 本地法币，按费用/时效/退回率自动排序，给出可解释推荐。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8404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9502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面向真实用户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434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为中小外贸出纳设计，移动端优先，几步走完一笔高风险付款的完整控制。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5060" y="38404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7940" y="39502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产出是指令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7940" y="43434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批准即生成付款指令，交由持牌机构划付——平台不经手资金。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核心功能① · AI 为何必要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付款前退回风险预检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确定性规则引擎：给出退回概率、命中风险因子、最可能的卡点。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4688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先拦截，而非先失败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9718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竞品在失败后对账；我们在提交前给出退回概率并指出卡点。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5060" y="24688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79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可解释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7940" y="29718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每个风险因子都能展开，告诉出纳为什么会被退、该补什么。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8404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9502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一键转核实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434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数据质量类因子可一键生成供应商核实工单，核实后自动清除/软化。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5060" y="38404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7940" y="39502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为高风险把关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7940" y="43434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超大额、受限地区、休眠账户等自动进入高风险通道。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核心功能② · AI 为何必要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AI 补充风险信号 + 合规简报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规则覆盖不了的语义与情境风险，交给 AI（DeepSeek）。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4688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抓规则抓不到的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9718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语义矛盾、与历史失败的相似度、可能缺失的单据——只加警示，绝不降低评分。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5060" y="24688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79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合规简报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7940" y="29718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把一堆检查项，翻译成出纳看得懂的通俗解释与修复步骤。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8404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9502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AI 起草核实消息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434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自动向供应商起草精准、具体的求证消息，省去反复沟通。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5060" y="38404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7940" y="39502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为什么必须有 AI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7940" y="43434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退回原因高度非结构化、随通道与国家变化；规则是骨架，AI 是识别隐藏风险的关键。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核心功能③ · 成果可演示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双人审批 + 生成付款指令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Maker-Checker 职责分离，服务端硬性禁止自我批准。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4688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第二签才放行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9718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出纳(Maker)提交，复核人(Checker)第二签批准；高风险进第二签通道。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5060" y="24688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79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全程审计留痕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7940" y="29718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每次批准/退回都记录签批人与时间，写入历史。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8404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9502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产出是指令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434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批准=生成付款指令，交由持牌机构划付——平台不经手资金。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5060" y="38404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7940" y="39502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防错防内控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7940" y="43434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把关键控制点前置，减少人为疏漏造成的资金损失。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AI 为何必要 · 四处真实痛点 → 四个 AI 能力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AI 覆盖一览：不是装饰，是每个卡点的解法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每个 AI 能力都绑定一个真实痛点、一个具体入口、一件明确的事。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2148840"/>
          <a:ext cx="105156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2926080"/>
                <a:gridCol w="5669280"/>
              </a:tblGrid>
              <a:tr h="7315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痛点</a:t>
                      </a:r>
                    </a:p>
                  </a:txBody>
                  <a:tcPr marL="91440" marT="36576" marB="36576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入口</a:t>
                      </a:r>
                    </a:p>
                  </a:txBody>
                  <a:tcPr marL="91440" marT="36576" marB="36576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AI 做什么</a:t>
                      </a:r>
                    </a:p>
                  </a:txBody>
                  <a:tcPr marL="91440" marT="36576" marB="36576">
                    <a:solidFill>
                      <a:srgbClr val="0F766E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① 看不到钱卡哪</a:t>
                      </a:r>
                    </a:p>
                  </a:txBody>
                  <a:tcPr marL="91440" marT="45720" marB="4572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历史里进行中付款的资金流链路图下方</a:t>
                      </a:r>
                    </a:p>
                  </a:txBody>
                  <a:tcPr marL="91440" marT="45720" marB="4572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F766E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「AI: where is my money?」</a:t>
                      </a:r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 — 用自然语言说清钱现在卡在哪家中间行、为何被卡、大概还要多久、你能做什么。</a:t>
                      </a:r>
                    </a:p>
                  </a:txBody>
                  <a:tcPr marL="91440" marT="45720" marB="45720">
                    <a:solidFill>
                      <a:srgbClr val="F8FAFC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② 退回事后才知道</a:t>
                      </a:r>
                    </a:p>
                  </a:txBody>
                  <a:tcPr marL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核验 Case（open 状态）</a:t>
                      </a:r>
                    </a:p>
                  </a:txBody>
                  <a:tcPr marL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F766E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「AI: draft the follow-up」</a:t>
                      </a:r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 — 基于命中因子直接起草给供应商的核实话术，第一条就是可直接发送的消息（补齐闭环）。</a:t>
                      </a:r>
                    </a:p>
                  </a:txBody>
                  <a:tcPr marL="91440" marT="45720" marB="45720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③ 多国重复适应银行</a:t>
                      </a:r>
                    </a:p>
                  </a:txBody>
                  <a:tcPr marL="91440" marT="45720" marB="4572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添加收款人表单（填了国家+银行后出现）</a:t>
                      </a:r>
                    </a:p>
                  </a:txBody>
                  <a:tcPr marL="91440" marT="45720" marB="4572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F766E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「AI: what this corridor requires」</a:t>
                      </a:r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 — 生成该国家/币种的结算要求清单（收款名匹配、SWIFT/IBAN、FX 管制文件等），省去每次重新摸规则。</a:t>
                      </a:r>
                    </a:p>
                  </a:txBody>
                  <a:tcPr marL="91440" marT="45720" marB="45720">
                    <a:solidFill>
                      <a:srgbClr val="F8FAFC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④ 对账对不上</a:t>
                      </a:r>
                    </a:p>
                  </a:txBody>
                  <a:tcPr marL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对账卡片（有差异或凭证未匹配时）</a:t>
                      </a:r>
                    </a:p>
                  </a:txBody>
                  <a:tcPr marL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F766E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「AI: why don't these match?」</a:t>
                      </a:r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 — 指出金额/凭证对不上的最可能原因 + 下一步。</a:t>
                      </a:r>
                    </a:p>
                  </a:txBody>
                  <a:tcPr marL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63550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AI 只加价值、只加警示——绝不降低确定性引擎评分；输出均需提交指令前人工核实。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现场可以看到什么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现场 Demo：一笔高风险付款的完整拦截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9164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现场可运行：新建付款→预检亮红→AI 信号→核实清除→双人放行→生成指令。</a:t>
            </a:r>
          </a:p>
        </p:txBody>
      </p:sp>
      <p:pic>
        <p:nvPicPr>
          <p:cNvPr id="5" name="Picture 4" descr="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2286000"/>
            <a:ext cx="9692640" cy="545211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630936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现场可运行、可演示核心功能——不是 PPT 概念。可扫码访问在线应用实测。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过程可说明 · 技术架构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怎么实现的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Next.js(App Router)+TypeScript+Tailwind；确定性规则引擎+DeepSeek AI；双语 i18n。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4688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前端 / 应用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9718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Next.js 15 + React + Tailwind，移动端优先；react-i18next 中英双语。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5060" y="24688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79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风控内核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7940" y="29718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确定性退回风险规则引擎(可解释、可复现) + DeepSeek 作为补充语义信号层。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8404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9502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数据与流转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434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付款指令/收款人台账/工单/到账确认/对账 全链路数据模型。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5060" y="38404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7940" y="39502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工程质量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7940" y="43434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全站 TypeScript 0 error、双语键 386/386 对齐、关键路由端到端可跑。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991B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ECACA"/>
                </a:solidFill>
                <a:latin typeface="Noto Sans CJK SC"/>
                <a:ea typeface="Noto Sans CJK SC"/>
                <a:cs typeface="Noto Sans CJK SC"/>
              </a:rPr>
              <a:t>合规边界 · 打消最大顾虑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我们「不碰」什么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EE2E2"/>
                </a:solidFill>
                <a:latin typeface="Noto Sans CJK SC"/>
                <a:ea typeface="Noto Sans CJK SC"/>
                <a:cs typeface="Noto Sans CJK SC"/>
              </a:rPr>
              <a:t>FlowGuard 是纯软件决策支持工具——这是产品的底线，也是可持续的前提。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14600"/>
            <a:ext cx="5143500" cy="1188720"/>
          </a:xfrm>
          <a:prstGeom prst="roundRect">
            <a:avLst/>
          </a:prstGeom>
          <a:solidFill>
            <a:srgbClr val="B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62432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✕ 不持牌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44952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EE2E2"/>
                </a:solidFill>
                <a:latin typeface="Noto Sans CJK SC"/>
                <a:ea typeface="Noto Sans CJK SC"/>
                <a:cs typeface="Noto Sans CJK SC"/>
              </a:rPr>
              <a:t>不持有任何支付/金融牌照，不以金融机构身份展业。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5060" y="2514600"/>
            <a:ext cx="5143500" cy="1188720"/>
          </a:xfrm>
          <a:prstGeom prst="roundRect">
            <a:avLst/>
          </a:prstGeom>
          <a:solidFill>
            <a:srgbClr val="B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7940" y="262432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✕ 不经手资金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7940" y="3044952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EE2E2"/>
                </a:solidFill>
                <a:latin typeface="Noto Sans CJK SC"/>
                <a:ea typeface="Noto Sans CJK SC"/>
                <a:cs typeface="Noto Sans CJK SC"/>
              </a:rPr>
              <a:t>不收款、不放款、不托管资金；任何环节都不流经资金。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931920"/>
            <a:ext cx="5143500" cy="1188720"/>
          </a:xfrm>
          <a:prstGeom prst="roundRect">
            <a:avLst/>
          </a:prstGeom>
          <a:solidFill>
            <a:srgbClr val="B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04164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✕ 不做加密兑换/转账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462272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EE2E2"/>
                </a:solidFill>
                <a:latin typeface="Noto Sans CJK SC"/>
                <a:ea typeface="Noto Sans CJK SC"/>
                <a:cs typeface="Noto Sans CJK SC"/>
              </a:rPr>
              <a:t>不提供稳定币/加密货币的兑换、托管或转账服务。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5060" y="3931920"/>
            <a:ext cx="5143500" cy="1188720"/>
          </a:xfrm>
          <a:prstGeom prst="roundRect">
            <a:avLst/>
          </a:prstGeom>
          <a:solidFill>
            <a:srgbClr val="B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7940" y="404164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✕ 由持牌机构结算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7940" y="4462272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EE2E2"/>
                </a:solidFill>
                <a:latin typeface="Noto Sans CJK SC"/>
                <a:ea typeface="Noto Sans CJK SC"/>
                <a:cs typeface="Noto Sans CJK SC"/>
              </a:rPr>
              <a:t>资金结算均由持牌金融机构完成；平台只做风控、选路、生成指令与追踪。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FECACA"/>
                </a:solidFill>
                <a:latin typeface="Noto Sans CJK SC"/>
                <a:ea typeface="Noto Sans CJK SC"/>
                <a:cs typeface="Noto Sans CJK SC"/>
              </a:rPr>
              <a:t>全站措辞已按此口径统一，并附双语《合规审查报告》PDF。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76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9144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CCEEEA"/>
                </a:solidFill>
                <a:latin typeface="Noto Sans CJK SC"/>
                <a:ea typeface="Noto Sans CJK SC"/>
                <a:cs typeface="Noto Sans CJK SC"/>
              </a:rPr>
              <a:t>总结 · 方向可继续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真实问题 · AI 必要 · 现场可演示 · 边界清晰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2468880"/>
            <a:ext cx="9601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EAF7F5"/>
                </a:solidFill>
                <a:latin typeface="Noto Sans CJK SC"/>
                <a:ea typeface="Noto Sans CJK SC"/>
                <a:cs typeface="Noto Sans CJK SC"/>
              </a:rPr>
              <a:t>一人团队，独立完成 App 全部内容：产品、风控逻辑、AI 集成、双语、合规措辞与文档。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566160"/>
            <a:ext cx="3383280" cy="1737360"/>
          </a:xfrm>
          <a:prstGeom prst="roundRect">
            <a:avLst/>
          </a:prstGeom>
          <a:solidFill>
            <a:srgbClr val="115E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70332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已验证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160520"/>
            <a:ext cx="3017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DFF1EF"/>
                </a:solidFill>
                <a:latin typeface="Noto Sans CJK SC"/>
                <a:ea typeface="Noto Sans CJK SC"/>
                <a:cs typeface="Noto Sans CJK SC"/>
              </a:rPr>
              <a:t>完整闭环可现场跑通；工程质量与合规口径均已落地。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0" y="3566160"/>
            <a:ext cx="3383280" cy="1737360"/>
          </a:xfrm>
          <a:prstGeom prst="roundRect">
            <a:avLst/>
          </a:prstGeom>
          <a:solidFill>
            <a:srgbClr val="115E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370332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可继续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4160520"/>
            <a:ext cx="3017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DFF1EF"/>
                </a:solidFill>
                <a:latin typeface="Noto Sans CJK SC"/>
                <a:ea typeface="Noto Sans CJK SC"/>
                <a:cs typeface="Noto Sans CJK SC"/>
              </a:rPr>
              <a:t>接入更多真实持牌通道、只读 ERP 对账、案例库随使用增长。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3566160"/>
            <a:ext cx="3383280" cy="1737360"/>
          </a:xfrm>
          <a:prstGeom prst="roundRect">
            <a:avLst/>
          </a:prstGeom>
          <a:solidFill>
            <a:srgbClr val="115E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370332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一句话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4160520"/>
            <a:ext cx="3017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DFF1EF"/>
                </a:solidFill>
                <a:latin typeface="Noto Sans CJK SC"/>
                <a:ea typeface="Noto Sans CJK SC"/>
                <a:cs typeface="Noto Sans CJK SC"/>
              </a:rPr>
              <a:t>让每一笔跨境付款，在提交给持牌机构之前，先被 AI 与规则一起看一眼。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1264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BFE4E0"/>
                </a:solidFill>
                <a:latin typeface="Noto Sans CJK SC"/>
                <a:ea typeface="Noto Sans CJK SC"/>
                <a:cs typeface="Noto Sans CJK SC"/>
              </a:rPr>
              <a:t>FlowGuard · 2026 创青春 AI 黑客松 · 自由创新赛道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