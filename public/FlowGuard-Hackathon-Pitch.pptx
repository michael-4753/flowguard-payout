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CEEEA"/>
                </a:solidFill>
                <a:latin typeface="Noto Sans CJK SC"/>
                <a:ea typeface="Noto Sans CJK SC"/>
                <a:cs typeface="Noto Sans CJK SC"/>
              </a:rPr>
              <a:t>2026 创青春 AI 黑客松 · 顺德行 · 自由创新赛道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FlowGuard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5661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EAF7F5"/>
                </a:solidFill>
                <a:latin typeface="Noto Sans CJK SC"/>
                <a:ea typeface="Noto Sans CJK SC"/>
                <a:cs typeface="Noto Sans CJK SC"/>
              </a:rPr>
              <a:t>把 AI 带进真实场景：跨境付款「先核查，再付款」的风控控制台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FE4E0"/>
                </a:solidFill>
                <a:latin typeface="Noto Sans CJK SC"/>
                <a:ea typeface="Noto Sans CJK SC"/>
                <a:cs typeface="Noto Sans CJK SC"/>
              </a:rPr>
              <a:t>一人团队 · 负责 App 全部内容 · 5 分钟路演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今天用 5 分钟讲清 11 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414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146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真实问题：谁在痛、痛在哪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33172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4414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5146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产品介绍：FlowGuard 是什么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33172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4414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146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核心功能①：付款前退回风险预检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4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核心功能②：AI 补充风险信号+合规简报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56616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67588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74904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核心功能③：双人审批+生成付款指令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56616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367588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74904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核心功能④：里程碑条件结算工作台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0060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1032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834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AI 覆盖一览：四痛点→四能力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80060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91032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9834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现场 Demo：你能看到什么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80060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491032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9834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技术架构：怎么实现的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603504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614476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621792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合规边界：我们不碰什么（关键）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6035040"/>
            <a:ext cx="34290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614476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621792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总结与可继续方向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真实问题 · 谁会使用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跨境 B2B 付款，至今仍是「盲发」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使用者：外贸企业出纳/财务、跨境电商、做海外供应商结算的中小企业。下面四痛点，正好对应后面四个 AI 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1435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786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① 中间行黑箱，钱卡哪看不见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47777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看不到钱走了哪条路、卡在哪个中间行，只能干等 → AI: where is my money?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468880"/>
            <a:ext cx="51435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7940" y="25786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② 莫名被退，发起时才知道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7940" y="2971800"/>
            <a:ext cx="47777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退回多是收款信息/合规校验问题，却发起后才发现，代价几天到一周 → AI: draft the follow-up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69080"/>
            <a:ext cx="51435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788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③ 多国供应商，重复适应银行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47777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多国多供应商，每次结算都要重新适应不同银行要求，效率极低 → AI: what this corridor requires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4069080"/>
            <a:ext cx="51435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41788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④ 财务对账，凭证对不上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4572000"/>
            <a:ext cx="47777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链上/链下凭证对不上，多笔跨国付款时尤其头疼 → AI: why don't these match?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真实、高频、可被验证的痛点——每一条都在后续被一个 AI 能力接住。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产品介绍 · 解决什么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付款前的「退回风险 + 合规」控制台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一句话：在把付款指令提交给持牌机构之前，先预检退回风险、比价选路、双人放行。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143500" cy="1143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786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全链路闭环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预检→供应商核实→双人审批→生成付款指令(提交持牌机构)→到账确认→自动对账。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468880"/>
            <a:ext cx="5143500" cy="1143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7940" y="25786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双通道比价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7940" y="2971800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稳定币直连 vs 本地法币，按费用/时效/退回率自动排序，给出可解释推荐。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5143500" cy="1143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02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面向真实用户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为中小外贸出纳设计，移动端优先，几步走完一笔高风险付款的完整控制。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3840480"/>
            <a:ext cx="5143500" cy="1143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39502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产出是指令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4343400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批准即生成付款指令，交由持牌机构划付——平台不经手资金。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核心功能① · AI 为何必要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付款前退回风险预检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040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确定性规则引擎：给出退回概率、命中风险因子、最可能的卡点。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1. 先拦截，而非先失败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竞品在失败后对账；我们在提交前给出退回概率并指出卡点。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8444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2. 可解释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每个风险因子都能展开，告诉出纳为什么会被退、该补什么。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8172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3. 一键转核实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数据质量类因子可一键生成供应商核实工单，核实后自动清除/软化。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669279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7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4. 为高风险把关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26479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超大额、受限地区、休眠账户等自动进入高风险通道。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46120" cy="4937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eat-pre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645920"/>
            <a:ext cx="3544214" cy="4663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38160" y="651052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产品界面（现场可实测）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核心功能② · AI 为何必要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AI 补充风险信号 + 合规简报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040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规则覆盖不了的语义与情境风险，交给 AI（DeepSeek）。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1. 抓规则抓不到的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语义矛盾、与历史失败的相似度、可能缺失的单据——只加警示，绝不降低评分。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8444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2. 合规简报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把一堆检查项，翻译成出纳看得懂的通俗解释与修复步骤。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8172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3. AI 起草核实消息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自动向供应商起草精准、具体的求证消息，省去反复沟通。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669279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7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4. 为什么必须有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26479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退回原因高度非结构化、随通道与国家变化；规则是骨架，AI 是识别隐藏风险的关键。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46120" cy="4937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eat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645920"/>
            <a:ext cx="3544214" cy="4663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38160" y="651052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产品界面（现场可实测）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核心功能③ · 成果可演示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双人审批 + 生成付款指令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040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Maker-Checker 职责分离，服务端硬性禁止自我批准。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1. 第二签才放行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出纳(Maker)提交，复核人(Checker)第二签批准；高风险进第二签通道。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8444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2. 全程审计留痕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每次批准/退回都记录签批人与时间，写入历史。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8172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3. 产出是指令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批准=生成付款指令，交由持牌机构划付——平台不经手资金。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669279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7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4. 防错防内控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26479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把关键控制点前置，减少人为疏漏造成的资金损失。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46120" cy="4937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eat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645920"/>
            <a:ext cx="3544214" cy="4663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38160" y="651052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产品界面（现场可实测）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核心功能④ · 成果可演示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里程碑条件结算工作台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040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按里程碑进度设条件、校验通过后推送放款提醒；不托管、不放款。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1. 项目/里程碑台账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外包/项目付款节点集中管理，进度与金额一目了然。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8444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2. 条件与状态流转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待开始→进行中→待校验→已校验，逐节点可控。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8172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3. 放款提醒→生成指令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校验通过弹出放款提醒，一键跳转生成付款指令。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669279"/>
            <a:ext cx="7040880" cy="9326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7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4. 合规边界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26479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仅做条件结算管理，实际放款在银行/持牌机构完成。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46120" cy="4937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eat-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645920"/>
            <a:ext cx="3544214" cy="4663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38160" y="651052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产品界面（现场可实测）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AI 为何必要 · 四处真实痛点 → 四个 AI 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AI 覆盖一览：不是装饰，是每个卡点的解法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每个 AI 能力都绑定一个真实痛点、一个具体入口、一件明确的事。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4884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5669280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痛点</a:t>
                      </a:r>
                    </a:p>
                  </a:txBody>
                  <a:tcPr marL="91440" marT="36576" marB="36576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入口</a:t>
                      </a:r>
                    </a:p>
                  </a:txBody>
                  <a:tcPr marL="91440" marT="36576" marB="36576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 做什么</a:t>
                      </a:r>
                    </a:p>
                  </a:txBody>
                  <a:tcPr marL="91440" marT="36576" marB="36576">
                    <a:solidFill>
                      <a:srgbClr val="0F766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① 看不到钱卡哪</a:t>
                      </a:r>
                    </a:p>
                  </a:txBody>
                  <a:tcPr marL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4748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历史里进行中付款的资金流链路图下方</a:t>
                      </a:r>
                    </a:p>
                  </a:txBody>
                  <a:tcPr marL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766E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「AI: where is my money?」</a:t>
                      </a:r>
                      <a:r>
                        <a:rPr sz="1150" b="0">
                          <a:solidFill>
                            <a:srgbClr val="64748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 — 用自然语言说清钱现在卡在哪家中间行、为何被卡、大概还要多久、你能做什么。</a:t>
                      </a:r>
                    </a:p>
                  </a:txBody>
                  <a:tcPr marL="91440" marT="45720" marB="45720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② 退回事后才知道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4748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核验 Case（open 状态）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766E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「AI: draft the follow-up」</a:t>
                      </a:r>
                      <a:r>
                        <a:rPr sz="1150" b="0">
                          <a:solidFill>
                            <a:srgbClr val="64748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 — 基于命中因子直接起草给供应商的核实话术，第一条就是可直接发送的消息（补齐闭环）。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③ 多国重复适应银行</a:t>
                      </a:r>
                    </a:p>
                  </a:txBody>
                  <a:tcPr marL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4748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添加收款人表单（填了国家+银行后出现）</a:t>
                      </a:r>
                    </a:p>
                  </a:txBody>
                  <a:tcPr marL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766E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「AI: what this corridor requires」</a:t>
                      </a:r>
                      <a:r>
                        <a:rPr sz="1150" b="0">
                          <a:solidFill>
                            <a:srgbClr val="64748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 — 生成该国家/币种的结算要求清单（收款名匹配、SWIFT/IBAN、FX 管制文件等），省去每次重新摸规则。</a:t>
                      </a:r>
                    </a:p>
                  </a:txBody>
                  <a:tcPr marL="91440" marT="45720" marB="45720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④ 对账对不上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4748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对账卡片（有差异或凭证未匹配时）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766E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「AI: why don't these match?」</a:t>
                      </a:r>
                      <a:r>
                        <a:rPr sz="1150" b="0">
                          <a:solidFill>
                            <a:srgbClr val="64748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 — 指出金额/凭证对不上的最可能原因 + 下一步。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AI 只加价值、只加警示——绝不降低确定性引擎评分；输出均需提交指令前人工核实。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现场可以看到什么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现场 Demo：一笔高风险付款的完整拦截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现场可运行：新建付款→预检亮红→AI 信号→核实清除→双人放行→生成指令。</a:t>
            </a:r>
          </a:p>
        </p:txBody>
      </p:sp>
      <p:pic>
        <p:nvPicPr>
          <p:cNvPr id="5" name="Picture 4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86000"/>
            <a:ext cx="9692640" cy="54521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现场可运行、可演示核心功能——不是 PPT 概念。可扫码访问在线应用实测。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Noto Sans CJK SC"/>
                <a:ea typeface="Noto Sans CJK SC"/>
                <a:cs typeface="Noto Sans CJK SC"/>
              </a:rPr>
              <a:t>过程可说明 ·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怎么实现的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Next.js(App Router)+TypeScript+Tailwind；确定性规则引擎+DeepSeek AI；双语 i18n。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143500" cy="1143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786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前端 / 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Next.js 15 + React + Tailwind，移动端优先；react-i18next 中英双语。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468880"/>
            <a:ext cx="5143500" cy="1143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7940" y="25786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风控内核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7940" y="2971800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确定性退回风险规则引擎(可解释、可复现) + DeepSeek 作为补充语义信号层。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5143500" cy="1143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02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数据与流转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付款指令/收款人台账/工单/到账确认/对账 全链路数据模型。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3840480"/>
            <a:ext cx="5143500" cy="1143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395020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Noto Sans CJK SC"/>
                <a:ea typeface="Noto Sans CJK SC"/>
                <a:cs typeface="Noto Sans CJK SC"/>
              </a:rPr>
              <a:t>工程质量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4343400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全站 TypeScript 0 error、双语键 386/386 对齐、关键路由端到端可跑。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ECACA"/>
                </a:solidFill>
                <a:latin typeface="Noto Sans CJK SC"/>
                <a:ea typeface="Noto Sans CJK SC"/>
                <a:cs typeface="Noto Sans CJK SC"/>
              </a:rPr>
              <a:t>合规边界 · 打消最大顾虑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我们「不碰」什么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EE2E2"/>
                </a:solidFill>
                <a:latin typeface="Noto Sans CJK SC"/>
                <a:ea typeface="Noto Sans CJK SC"/>
                <a:cs typeface="Noto Sans CJK SC"/>
              </a:rPr>
              <a:t>FlowGuard 是纯软件决策支持工具——这是产品的底线，也是可持续的前提。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5143500" cy="1188720"/>
          </a:xfrm>
          <a:prstGeom prst="roundRect">
            <a:avLst/>
          </a:prstGeom>
          <a:solidFill>
            <a:srgbClr val="B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2432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✕ 不持牌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44952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EE2E2"/>
                </a:solidFill>
                <a:latin typeface="Noto Sans CJK SC"/>
                <a:ea typeface="Noto Sans CJK SC"/>
                <a:cs typeface="Noto Sans CJK SC"/>
              </a:rPr>
              <a:t>不持有任何支付/金融牌照，不以金融机构身份展业。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514600"/>
            <a:ext cx="5143500" cy="1188720"/>
          </a:xfrm>
          <a:prstGeom prst="roundRect">
            <a:avLst/>
          </a:prstGeom>
          <a:solidFill>
            <a:srgbClr val="B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7940" y="262432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✕ 不经手资金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7940" y="3044952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EE2E2"/>
                </a:solidFill>
                <a:latin typeface="Noto Sans CJK SC"/>
                <a:ea typeface="Noto Sans CJK SC"/>
                <a:cs typeface="Noto Sans CJK SC"/>
              </a:rPr>
              <a:t>不收款、不放款、不托管资金；任何环节都不流经资金。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31920"/>
            <a:ext cx="5143500" cy="1188720"/>
          </a:xfrm>
          <a:prstGeom prst="roundRect">
            <a:avLst/>
          </a:prstGeom>
          <a:solidFill>
            <a:srgbClr val="B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4164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✕ 不做加密兑换/转账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62272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EE2E2"/>
                </a:solidFill>
                <a:latin typeface="Noto Sans CJK SC"/>
                <a:ea typeface="Noto Sans CJK SC"/>
                <a:cs typeface="Noto Sans CJK SC"/>
              </a:rPr>
              <a:t>不提供稳定币/加密货币的兑换、托管或转账服务。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3931920"/>
            <a:ext cx="5143500" cy="1188720"/>
          </a:xfrm>
          <a:prstGeom prst="roundRect">
            <a:avLst/>
          </a:prstGeom>
          <a:solidFill>
            <a:srgbClr val="B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4041648"/>
            <a:ext cx="47777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✕ 由持牌机构结算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4462272"/>
            <a:ext cx="47777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EE2E2"/>
                </a:solidFill>
                <a:latin typeface="Noto Sans CJK SC"/>
                <a:ea typeface="Noto Sans CJK SC"/>
                <a:cs typeface="Noto Sans CJK SC"/>
              </a:rPr>
              <a:t>资金结算均由持牌金融机构完成；平台只做风控、选路、生成指令与追踪。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ECACA"/>
                </a:solidFill>
                <a:latin typeface="Noto Sans CJK SC"/>
                <a:ea typeface="Noto Sans CJK SC"/>
                <a:cs typeface="Noto Sans CJK SC"/>
              </a:rPr>
              <a:t>全站措辞已按此口径统一，并附双语《合规审查报告》PDF。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CEEEA"/>
                </a:solidFill>
                <a:latin typeface="Noto Sans CJK SC"/>
                <a:ea typeface="Noto Sans CJK SC"/>
                <a:cs typeface="Noto Sans CJK SC"/>
              </a:rPr>
              <a:t>总结 · 方向可继续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真实问题 · AI 必要 · 现场可演示 · 边界清晰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F7F5"/>
                </a:solidFill>
                <a:latin typeface="Noto Sans CJK SC"/>
                <a:ea typeface="Noto Sans CJK SC"/>
                <a:cs typeface="Noto Sans CJK SC"/>
              </a:rPr>
              <a:t>一人团队，独立完成 App 全部内容：产品、风控逻辑、AI 集成、双语、合规措辞与文档。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3383280" cy="1737360"/>
          </a:xfrm>
          <a:prstGeom prst="round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7033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已验证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FF1EF"/>
                </a:solidFill>
                <a:latin typeface="Noto Sans CJK SC"/>
                <a:ea typeface="Noto Sans CJK SC"/>
                <a:cs typeface="Noto Sans CJK SC"/>
              </a:rPr>
              <a:t>完整闭环可现场跑通；工程质量与合规口径均已落地。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566160"/>
            <a:ext cx="3383280" cy="1737360"/>
          </a:xfrm>
          <a:prstGeom prst="round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7033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可继续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1605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FF1EF"/>
                </a:solidFill>
                <a:latin typeface="Noto Sans CJK SC"/>
                <a:ea typeface="Noto Sans CJK SC"/>
                <a:cs typeface="Noto Sans CJK SC"/>
              </a:rPr>
              <a:t>接入更多真实持牌通道、只读 ERP 对账、案例库随使用增长。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566160"/>
            <a:ext cx="3383280" cy="1737360"/>
          </a:xfrm>
          <a:prstGeom prst="round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7033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一句话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1605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FF1EF"/>
                </a:solidFill>
                <a:latin typeface="Noto Sans CJK SC"/>
                <a:ea typeface="Noto Sans CJK SC"/>
                <a:cs typeface="Noto Sans CJK SC"/>
              </a:rPr>
              <a:t>让每一笔跨境付款，在提交给持牌机构之前，先被 AI 与规则一起看一眼。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FE4E0"/>
                </a:solidFill>
                <a:latin typeface="Noto Sans CJK SC"/>
                <a:ea typeface="Noto Sans CJK SC"/>
                <a:cs typeface="Noto Sans CJK SC"/>
              </a:rPr>
              <a:t>FlowGuard · 2026 创青春 AI 黑客松 · 自由创新赛道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